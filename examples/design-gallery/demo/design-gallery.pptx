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Reading Text SC" panose="020B0200000000000000" pitchFamily="34" charset="-122"/>
      <p:regular r:id="rId10"/>
    </p:embeddedFont>
    <p:embeddedFont>
      <p:font typeface="ZCOOL KuaiLe" pitchFamily="2" charset="-122"/>
      <p:regular r:id="rId11"/>
    </p:embeddedFont>
    <p:embeddedFont>
      <p:font typeface="Barlow Condensed" panose="00000506000000000000" pitchFamily="2" charset="0"/>
      <p:regular r:id="rId12"/>
    </p:embeddedFont>
    <p:embeddedFont>
      <p:font typeface="ZCOOL XiaoWei" panose="00000500000000000000" pitchFamily="2" charset="0"/>
      <p:regular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ifestyle-scene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546100"/>
            <a:ext cx="5207000" cy="431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164B3B"/>
                </a:solidFill>
                <a:latin typeface="Barlow Condensed"/>
                <a:ea typeface="Barlow Condensed"/>
              </a:rPr>
              <a:t>SPROUT / CONCEPT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6900" y="1409700"/>
            <a:ext cx="464820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700" b="0">
                <a:solidFill>
                  <a:srgbClr val="164B3B"/>
                </a:solidFill>
                <a:latin typeface="ZCOOL XiaoWei"/>
                <a:ea typeface="ZCOOL XiaoWei"/>
              </a:rPr>
              <a:t>绿芽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2997200"/>
            <a:ext cx="4902200" cy="723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0">
                <a:solidFill>
                  <a:srgbClr val="164B3B"/>
                </a:solidFill>
                <a:latin typeface="ZCOOL XiaoWei"/>
                <a:ea typeface="ZCOOL XiaoWei"/>
              </a:rPr>
              <a:t>让照料，更从容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700" y="4000500"/>
            <a:ext cx="4051300" cy="965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52655E"/>
                </a:solidFill>
                <a:latin typeface="Reading Text SC"/>
                <a:ea typeface="Reading Text SC"/>
              </a:rPr>
              <a:t>看见植物状态，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52655E"/>
                </a:solidFill>
                <a:latin typeface="Reading Text SC"/>
                <a:ea typeface="Reading Text SC"/>
              </a:rPr>
              <a:t>记住每一次照料。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7700" y="5283200"/>
            <a:ext cx="3644900" cy="0"/>
          </a:xfrm>
          <a:prstGeom prst="line">
            <a:avLst/>
          </a:prstGeom>
          <a:ln w="12700">
            <a:solidFill>
              <a:srgbClr val="8BA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60400" y="5422900"/>
            <a:ext cx="4711700" cy="495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70" b="0">
                <a:solidFill>
                  <a:srgbClr val="164B3B"/>
                </a:solidFill>
                <a:latin typeface="Reading Text SC"/>
                <a:ea typeface="Reading Text SC"/>
              </a:rPr>
              <a:t>状态查看   /   养护提醒   /   记录管理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6248400"/>
            <a:ext cx="774700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20" b="0">
                <a:solidFill>
                  <a:srgbClr val="164B3B"/>
                </a:solidFill>
                <a:latin typeface="Reading Text SC"/>
                <a:ea typeface="Reading Text SC"/>
              </a:rPr>
              <a:t>01 / 场景出血与宋体标题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248400"/>
            <a:ext cx="114300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20" b="0">
                <a:solidFill>
                  <a:srgbClr val="164B3B"/>
                </a:solidFill>
                <a:latin typeface="Reading Text SC"/>
                <a:ea typeface="Reading Text SC"/>
              </a:rPr>
              <a:t>概念演示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6248400"/>
            <a:ext cx="1003300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20" b="0">
                <a:solidFill>
                  <a:srgbClr val="52655E"/>
                </a:solidFill>
                <a:latin typeface="Reading Text SC"/>
                <a:ea typeface="Reading Text SC"/>
              </a:rPr>
              <a:t>02 / 开放分栏与信息层级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48400"/>
            <a:ext cx="114300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20" b="0">
                <a:solidFill>
                  <a:srgbClr val="52655E"/>
                </a:solidFill>
                <a:latin typeface="Reading Text SC"/>
                <a:ea typeface="Reading Text SC"/>
              </a:rPr>
              <a:t>概念演示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8800" y="444500"/>
            <a:ext cx="5461000" cy="406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164B3B"/>
                </a:solidFill>
                <a:latin typeface="Barlow Condensed"/>
                <a:ea typeface="Barlow Condensed"/>
              </a:rPr>
              <a:t>FORM / FUNCTION / CARE</a:t>
            </a:r>
          </a:p>
        </p:txBody>
      </p:sp>
      <p:pic>
        <p:nvPicPr>
          <p:cNvPr id="6" name="Picture 5" descr="product-cut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399" y="1652587"/>
            <a:ext cx="5346700" cy="40100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07100" y="838200"/>
            <a:ext cx="5511800" cy="1346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800" b="0">
                <a:solidFill>
                  <a:srgbClr val="164B3B"/>
                </a:solidFill>
                <a:latin typeface="ZCOOL XiaoWei"/>
                <a:ea typeface="ZCOOL XiaoWei"/>
              </a:rPr>
              <a:t>从植物状态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800" b="0">
                <a:solidFill>
                  <a:srgbClr val="164B3B"/>
                </a:solidFill>
                <a:latin typeface="ZCOOL XiaoWei"/>
                <a:ea typeface="ZCOOL XiaoWei"/>
              </a:rPr>
              <a:t>到一次照料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19800" y="2667000"/>
            <a:ext cx="609600" cy="495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0">
                <a:solidFill>
                  <a:srgbClr val="75A07D"/>
                </a:solidFill>
                <a:latin typeface="Barlow Condensed"/>
                <a:ea typeface="Barlow Condense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32600" y="2667000"/>
            <a:ext cx="4508500" cy="444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164B3B"/>
                </a:solidFill>
                <a:latin typeface="Reading Text SC"/>
                <a:ea typeface="Reading Text SC"/>
              </a:rPr>
              <a:t>知道状态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2600" y="3124200"/>
            <a:ext cx="4508500" cy="406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>
                <a:solidFill>
                  <a:srgbClr val="52655E"/>
                </a:solidFill>
                <a:latin typeface="Reading Text SC"/>
                <a:ea typeface="Reading Text SC"/>
              </a:rPr>
              <a:t>让需要关注的信息集中呈现。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19900" y="3619500"/>
            <a:ext cx="4635500" cy="0"/>
          </a:xfrm>
          <a:prstGeom prst="line">
            <a:avLst/>
          </a:prstGeom>
          <a:ln w="10160">
            <a:solidFill>
              <a:srgbClr val="D7E3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019800" y="3733800"/>
            <a:ext cx="609600" cy="495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0">
                <a:solidFill>
                  <a:srgbClr val="FF816B"/>
                </a:solidFill>
                <a:latin typeface="Barlow Condensed"/>
                <a:ea typeface="Barlow Condense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2600" y="3733800"/>
            <a:ext cx="4508500" cy="444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164B3B"/>
                </a:solidFill>
                <a:latin typeface="Reading Text SC"/>
                <a:ea typeface="Reading Text SC"/>
              </a:rPr>
              <a:t>收到提醒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2600" y="4191000"/>
            <a:ext cx="4508500" cy="406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>
                <a:solidFill>
                  <a:srgbClr val="52655E"/>
                </a:solidFill>
                <a:latin typeface="Reading Text SC"/>
                <a:ea typeface="Reading Text SC"/>
              </a:rPr>
              <a:t>把下一次照料变成明确提示。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819900" y="4686300"/>
            <a:ext cx="4635500" cy="0"/>
          </a:xfrm>
          <a:prstGeom prst="line">
            <a:avLst/>
          </a:prstGeom>
          <a:ln w="10160">
            <a:solidFill>
              <a:srgbClr val="D7E3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019800" y="4800600"/>
            <a:ext cx="609600" cy="495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0">
                <a:solidFill>
                  <a:srgbClr val="75A07D"/>
                </a:solidFill>
                <a:latin typeface="Barlow Condensed"/>
                <a:ea typeface="Barlow Condensed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2600" y="4800600"/>
            <a:ext cx="4508500" cy="444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164B3B"/>
                </a:solidFill>
                <a:latin typeface="Reading Text SC"/>
                <a:ea typeface="Reading Text SC"/>
              </a:rPr>
              <a:t>留下记录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2600" y="5257800"/>
            <a:ext cx="4508500" cy="406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>
                <a:solidFill>
                  <a:srgbClr val="52655E"/>
                </a:solidFill>
                <a:latin typeface="Reading Text SC"/>
                <a:ea typeface="Reading Text SC"/>
              </a:rPr>
              <a:t>让之前的养护过程便于回看。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6248400"/>
            <a:ext cx="1003300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20" b="0">
                <a:solidFill>
                  <a:srgbClr val="52655E"/>
                </a:solidFill>
                <a:latin typeface="Reading Text SC"/>
                <a:ea typeface="Reading Text SC"/>
              </a:rPr>
              <a:t>03 / 沿相同维度对比方案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48400"/>
            <a:ext cx="114300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20" b="0">
                <a:solidFill>
                  <a:srgbClr val="52655E"/>
                </a:solidFill>
                <a:latin typeface="Reading Text SC"/>
                <a:ea typeface="Reading Text SC"/>
              </a:rPr>
              <a:t>概念演示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6100" y="469900"/>
            <a:ext cx="10858500" cy="876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500" b="1">
                <a:solidFill>
                  <a:srgbClr val="164B3B"/>
                </a:solidFill>
                <a:latin typeface="Reading Text SC"/>
                <a:ea typeface="Reading Text SC"/>
              </a:rPr>
              <a:t>从凭记忆，到有记录</a:t>
            </a:r>
          </a:p>
        </p:txBody>
      </p:sp>
      <p:sp>
        <p:nvSpPr>
          <p:cNvPr id="6" name="Rectangle 5"/>
          <p:cNvSpPr/>
          <p:nvPr/>
        </p:nvSpPr>
        <p:spPr>
          <a:xfrm>
            <a:off x="546100" y="1676400"/>
            <a:ext cx="5003800" cy="4038600"/>
          </a:xfrm>
          <a:prstGeom prst="rect">
            <a:avLst/>
          </a:prstGeom>
          <a:solidFill>
            <a:srgbClr val="ED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604000" y="1676400"/>
            <a:ext cx="5041900" cy="4038600"/>
          </a:xfrm>
          <a:prstGeom prst="rect">
            <a:avLst/>
          </a:prstGeom>
          <a:solidFill>
            <a:srgbClr val="164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3600" y="1930400"/>
            <a:ext cx="4330700" cy="571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164B3B"/>
                </a:solidFill>
                <a:latin typeface="Reading Text SC"/>
                <a:ea typeface="Reading Text SC"/>
              </a:rPr>
              <a:t>情境假设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59600" y="1930400"/>
            <a:ext cx="4343400" cy="571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Reading Text SC"/>
                <a:ea typeface="Reading Text SC"/>
              </a:rPr>
              <a:t>概念方案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3600" y="2921000"/>
            <a:ext cx="6223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0">
                <a:solidFill>
                  <a:srgbClr val="75A07D"/>
                </a:solidFill>
                <a:latin typeface="Barlow Condensed"/>
                <a:ea typeface="Barlow Condense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921000"/>
            <a:ext cx="3568700" cy="495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164B3B"/>
                </a:solidFill>
                <a:latin typeface="Reading Text SC"/>
                <a:ea typeface="Reading Text SC"/>
              </a:rPr>
              <a:t>想起时才查看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9600" y="2921000"/>
            <a:ext cx="6223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0">
                <a:solidFill>
                  <a:srgbClr val="AFCFB8"/>
                </a:solidFill>
                <a:latin typeface="Barlow Condensed"/>
                <a:ea typeface="Barlow Condense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6200" y="2921000"/>
            <a:ext cx="3530600" cy="495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Reading Text SC"/>
                <a:ea typeface="Reading Text SC"/>
              </a:rPr>
              <a:t>状态集中查看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3600" y="3733800"/>
            <a:ext cx="6223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0">
                <a:solidFill>
                  <a:srgbClr val="75A07D"/>
                </a:solidFill>
                <a:latin typeface="Barlow Condensed"/>
                <a:ea typeface="Barlow Condense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733800"/>
            <a:ext cx="3568700" cy="495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164B3B"/>
                </a:solidFill>
                <a:latin typeface="Reading Text SC"/>
                <a:ea typeface="Reading Text SC"/>
              </a:rPr>
              <a:t>不记得上次照料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59600" y="3733800"/>
            <a:ext cx="6223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0">
                <a:solidFill>
                  <a:srgbClr val="AFCFB8"/>
                </a:solidFill>
                <a:latin typeface="Barlow Condensed"/>
                <a:ea typeface="Barlow Condensed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6200" y="3733800"/>
            <a:ext cx="3530600" cy="495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Reading Text SC"/>
                <a:ea typeface="Reading Text SC"/>
              </a:rPr>
              <a:t>提醒后再处理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3600" y="4546600"/>
            <a:ext cx="6223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0">
                <a:solidFill>
                  <a:srgbClr val="75A07D"/>
                </a:solidFill>
                <a:latin typeface="Barlow Condensed"/>
                <a:ea typeface="Barlow Condense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546600"/>
            <a:ext cx="3568700" cy="495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164B3B"/>
                </a:solidFill>
                <a:latin typeface="Reading Text SC"/>
                <a:ea typeface="Reading Text SC"/>
              </a:rPr>
              <a:t>信息分散在各处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9600" y="4546600"/>
            <a:ext cx="6223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0">
                <a:solidFill>
                  <a:srgbClr val="AFCFB8"/>
                </a:solidFill>
                <a:latin typeface="Barlow Condensed"/>
                <a:ea typeface="Barlow Condensed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96200" y="4546600"/>
            <a:ext cx="3530600" cy="495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Reading Text SC"/>
                <a:ea typeface="Reading Text SC"/>
              </a:rPr>
              <a:t>记录便于回看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78500" y="3416300"/>
            <a:ext cx="571500" cy="647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000" b="0">
                <a:solidFill>
                  <a:srgbClr val="FF816B"/>
                </a:solidFill>
                <a:latin typeface="Reading Text SC"/>
                <a:ea typeface="Reading Text SC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6900" y="5765800"/>
            <a:ext cx="10858500" cy="406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80" b="0">
                <a:solidFill>
                  <a:srgbClr val="52655E"/>
                </a:solidFill>
                <a:latin typeface="Reading Text SC"/>
                <a:ea typeface="Reading Text SC"/>
              </a:rPr>
              <a:t>沿相同维度比较：查看、提醒、记录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6248400"/>
            <a:ext cx="1003300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20" b="0">
                <a:solidFill>
                  <a:srgbClr val="52655E"/>
                </a:solidFill>
                <a:latin typeface="Reading Text SC"/>
                <a:ea typeface="Reading Text SC"/>
              </a:rPr>
              <a:t>04 / 四步路径替代等宽卡片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48400"/>
            <a:ext cx="114300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20" b="0">
                <a:solidFill>
                  <a:srgbClr val="52655E"/>
                </a:solidFill>
                <a:latin typeface="Reading Text SC"/>
                <a:ea typeface="Reading Text SC"/>
              </a:rPr>
              <a:t>概念演示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8800" y="444500"/>
            <a:ext cx="10922000" cy="86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164B3B"/>
                </a:solidFill>
                <a:latin typeface="Reading Text SC"/>
                <a:ea typeface="Reading Text SC"/>
              </a:rPr>
              <a:t>用路径，讲清一次照料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6900" y="1422400"/>
            <a:ext cx="9017000" cy="368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78A080"/>
                </a:solidFill>
                <a:latin typeface="Barlow Condensed"/>
                <a:ea typeface="Barlow Condensed"/>
              </a:rPr>
              <a:t>PROCESS / FOUR STEPS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98600" y="3581400"/>
            <a:ext cx="9194800" cy="0"/>
          </a:xfrm>
          <a:prstGeom prst="line">
            <a:avLst/>
          </a:prstGeom>
          <a:ln w="31750">
            <a:solidFill>
              <a:srgbClr val="A8CB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193800" y="3276600"/>
            <a:ext cx="609600" cy="609600"/>
          </a:xfrm>
          <a:prstGeom prst="ellipse">
            <a:avLst/>
          </a:prstGeom>
          <a:solidFill>
            <a:srgbClr val="164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19200" y="3314700"/>
            <a:ext cx="5588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Barlow Condensed"/>
                <a:ea typeface="Barlow Condense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2184400"/>
            <a:ext cx="2540000" cy="495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164B3B"/>
                </a:solidFill>
                <a:latin typeface="Reading Text SC"/>
                <a:ea typeface="Reading Text SC"/>
              </a:rPr>
              <a:t>采集状态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" y="2743200"/>
            <a:ext cx="2692400" cy="596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30" b="0">
                <a:solidFill>
                  <a:srgbClr val="52655E"/>
                </a:solidFill>
                <a:latin typeface="Reading Text SC"/>
                <a:ea typeface="Reading Text SC"/>
              </a:rPr>
              <a:t>记录当前植物状态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98600" y="3111500"/>
            <a:ext cx="0" cy="101600"/>
          </a:xfrm>
          <a:prstGeom prst="line">
            <a:avLst/>
          </a:prstGeom>
          <a:ln w="12700">
            <a:solidFill>
              <a:srgbClr val="A8CB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4258733" y="3276600"/>
            <a:ext cx="609600" cy="609600"/>
          </a:xfrm>
          <a:prstGeom prst="ellipse">
            <a:avLst/>
          </a:prstGeom>
          <a:solidFill>
            <a:srgbClr val="164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84133" y="3314700"/>
            <a:ext cx="5588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Barlow Condensed"/>
                <a:ea typeface="Barlow Condense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3533" y="4305300"/>
            <a:ext cx="2540000" cy="495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164B3B"/>
                </a:solidFill>
                <a:latin typeface="Reading Text SC"/>
                <a:ea typeface="Reading Text SC"/>
              </a:rPr>
              <a:t>整理信息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17333" y="4864100"/>
            <a:ext cx="2692400" cy="596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30" b="0">
                <a:solidFill>
                  <a:srgbClr val="52655E"/>
                </a:solidFill>
                <a:latin typeface="Reading Text SC"/>
                <a:ea typeface="Reading Text SC"/>
              </a:rPr>
              <a:t>把资料组织成可查看内容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63533" y="4051300"/>
            <a:ext cx="0" cy="177800"/>
          </a:xfrm>
          <a:prstGeom prst="line">
            <a:avLst/>
          </a:prstGeom>
          <a:ln w="12700">
            <a:solidFill>
              <a:srgbClr val="A8CB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7323666" y="3276600"/>
            <a:ext cx="609600" cy="609600"/>
          </a:xfrm>
          <a:prstGeom prst="ellipse">
            <a:avLst/>
          </a:prstGeom>
          <a:solidFill>
            <a:srgbClr val="FF8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49066" y="3314700"/>
            <a:ext cx="5588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Barlow Condensed"/>
                <a:ea typeface="Barlow Condensed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8466" y="2184400"/>
            <a:ext cx="2540000" cy="495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164B3B"/>
                </a:solidFill>
                <a:latin typeface="Reading Text SC"/>
                <a:ea typeface="Reading Text SC"/>
              </a:rPr>
              <a:t>形成提醒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2266" y="2743200"/>
            <a:ext cx="2692400" cy="596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30" b="0">
                <a:solidFill>
                  <a:srgbClr val="52655E"/>
                </a:solidFill>
                <a:latin typeface="Reading Text SC"/>
                <a:ea typeface="Reading Text SC"/>
              </a:rPr>
              <a:t>提示下一次需要关注的事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628466" y="3111500"/>
            <a:ext cx="0" cy="101600"/>
          </a:xfrm>
          <a:prstGeom prst="line">
            <a:avLst/>
          </a:prstGeom>
          <a:ln w="12700">
            <a:solidFill>
              <a:srgbClr val="A8CB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0388600" y="3276600"/>
            <a:ext cx="609600" cy="609600"/>
          </a:xfrm>
          <a:prstGeom prst="ellipse">
            <a:avLst/>
          </a:prstGeom>
          <a:solidFill>
            <a:srgbClr val="164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414000" y="3314700"/>
            <a:ext cx="5588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Barlow Condensed"/>
                <a:ea typeface="Barlow Condensed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23400" y="4305300"/>
            <a:ext cx="2540000" cy="495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164B3B"/>
                </a:solidFill>
                <a:latin typeface="Reading Text SC"/>
                <a:ea typeface="Reading Text SC"/>
              </a:rPr>
              <a:t>记录照料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47200" y="4864100"/>
            <a:ext cx="2692400" cy="596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30" b="0">
                <a:solidFill>
                  <a:srgbClr val="52655E"/>
                </a:solidFill>
                <a:latin typeface="Reading Text SC"/>
                <a:ea typeface="Reading Text SC"/>
              </a:rPr>
              <a:t>把这次操作留在记录中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693400" y="4051300"/>
            <a:ext cx="0" cy="177800"/>
          </a:xfrm>
          <a:prstGeom prst="line">
            <a:avLst/>
          </a:prstGeom>
          <a:ln w="12700">
            <a:solidFill>
              <a:srgbClr val="A8CB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09600" y="5676900"/>
            <a:ext cx="10972800" cy="393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70" b="0">
                <a:solidFill>
                  <a:srgbClr val="52655E"/>
                </a:solidFill>
                <a:latin typeface="Reading Text SC"/>
                <a:ea typeface="Reading Text SC"/>
              </a:rPr>
              <a:t>流程示意，不包含实测数据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6248400"/>
            <a:ext cx="1003300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20" b="0">
                <a:solidFill>
                  <a:srgbClr val="52655E"/>
                </a:solidFill>
                <a:latin typeface="Reading Text SC"/>
                <a:ea typeface="Reading Text SC"/>
              </a:rPr>
              <a:t>05 / 分层架构说明协作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48400"/>
            <a:ext cx="114300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20" b="0">
                <a:solidFill>
                  <a:srgbClr val="52655E"/>
                </a:solidFill>
                <a:latin typeface="Reading Text SC"/>
                <a:ea typeface="Reading Text SC"/>
              </a:rPr>
              <a:t>概念演示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6100" y="444500"/>
            <a:ext cx="10998200" cy="86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164B3B"/>
                </a:solidFill>
                <a:latin typeface="Reading Text SC"/>
                <a:ea typeface="Reading Text SC"/>
              </a:rPr>
              <a:t>分层表达，让关系更清楚</a:t>
            </a:r>
          </a:p>
        </p:txBody>
      </p:sp>
      <p:sp>
        <p:nvSpPr>
          <p:cNvPr id="6" name="Rectangle 5"/>
          <p:cNvSpPr/>
          <p:nvPr/>
        </p:nvSpPr>
        <p:spPr>
          <a:xfrm>
            <a:off x="546100" y="1765300"/>
            <a:ext cx="8267700" cy="1130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6100" y="1765300"/>
            <a:ext cx="2209800" cy="1130300"/>
          </a:xfrm>
          <a:prstGeom prst="rect">
            <a:avLst/>
          </a:prstGeom>
          <a:solidFill>
            <a:srgbClr val="DD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3900" y="1905000"/>
            <a:ext cx="58420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0">
                <a:solidFill>
                  <a:srgbClr val="739B7B"/>
                </a:solidFill>
                <a:latin typeface="Barlow Condensed"/>
                <a:ea typeface="Barlow Condense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900" y="2362200"/>
            <a:ext cx="186690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164B3B"/>
                </a:solidFill>
                <a:latin typeface="Reading Text SC"/>
                <a:ea typeface="Reading Text SC"/>
              </a:rPr>
              <a:t>用户交互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09900" y="1879600"/>
            <a:ext cx="5562600" cy="444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64B3B"/>
                </a:solidFill>
                <a:latin typeface="Reading Text SC"/>
                <a:ea typeface="Reading Text SC"/>
              </a:rPr>
              <a:t>查看状态   /   收到提醒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22600" y="2362200"/>
            <a:ext cx="54991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60" b="0">
                <a:solidFill>
                  <a:srgbClr val="52655E"/>
                </a:solidFill>
                <a:latin typeface="Reading Text SC"/>
                <a:ea typeface="Reading Text SC"/>
              </a:rPr>
              <a:t>用户可接触的界面与动作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78500" y="2908300"/>
            <a:ext cx="0" cy="165100"/>
          </a:xfrm>
          <a:prstGeom prst="line">
            <a:avLst/>
          </a:prstGeom>
          <a:ln w="25400">
            <a:solidFill>
              <a:srgbClr val="86A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46100" y="3098800"/>
            <a:ext cx="8267700" cy="1130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6100" y="3098800"/>
            <a:ext cx="2209800" cy="1130300"/>
          </a:xfrm>
          <a:prstGeom prst="rect">
            <a:avLst/>
          </a:prstGeom>
          <a:solidFill>
            <a:srgbClr val="164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3900" y="3238500"/>
            <a:ext cx="58420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0">
                <a:solidFill>
                  <a:srgbClr val="A5C5AD"/>
                </a:solidFill>
                <a:latin typeface="Barlow Condensed"/>
                <a:ea typeface="Barlow Condense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900" y="3695700"/>
            <a:ext cx="186690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Reading Text SC"/>
                <a:ea typeface="Reading Text SC"/>
              </a:rPr>
              <a:t>状态与提醒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09900" y="3213100"/>
            <a:ext cx="5562600" cy="444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64B3B"/>
                </a:solidFill>
                <a:latin typeface="Reading Text SC"/>
                <a:ea typeface="Reading Text SC"/>
              </a:rPr>
              <a:t>信息组织   /   提醒逻辑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22600" y="3695700"/>
            <a:ext cx="54991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60" b="0">
                <a:solidFill>
                  <a:srgbClr val="52655E"/>
                </a:solidFill>
                <a:latin typeface="Reading Text SC"/>
                <a:ea typeface="Reading Text SC"/>
              </a:rPr>
              <a:t>把概念数据转为便于理解的提示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778500" y="4241800"/>
            <a:ext cx="0" cy="165100"/>
          </a:xfrm>
          <a:prstGeom prst="line">
            <a:avLst/>
          </a:prstGeom>
          <a:ln w="25400">
            <a:solidFill>
              <a:srgbClr val="86A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46100" y="4432300"/>
            <a:ext cx="8267700" cy="1130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6100" y="4432300"/>
            <a:ext cx="2209800" cy="1130300"/>
          </a:xfrm>
          <a:prstGeom prst="rect">
            <a:avLst/>
          </a:prstGeom>
          <a:solidFill>
            <a:srgbClr val="DD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3900" y="4572000"/>
            <a:ext cx="58420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0">
                <a:solidFill>
                  <a:srgbClr val="739B7B"/>
                </a:solidFill>
                <a:latin typeface="Barlow Condensed"/>
                <a:ea typeface="Barlow Condensed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3900" y="5029200"/>
            <a:ext cx="186690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164B3B"/>
                </a:solidFill>
                <a:latin typeface="Reading Text SC"/>
                <a:ea typeface="Reading Text SC"/>
              </a:rPr>
              <a:t>概念采集端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09900" y="4546600"/>
            <a:ext cx="5562600" cy="444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64B3B"/>
                </a:solidFill>
                <a:latin typeface="Reading Text SC"/>
                <a:ea typeface="Reading Text SC"/>
              </a:rPr>
              <a:t>状态入口   /   照料记录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22600" y="5029200"/>
            <a:ext cx="54991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60" b="0">
                <a:solidFill>
                  <a:srgbClr val="52655E"/>
                </a:solidFill>
                <a:latin typeface="Reading Text SC"/>
                <a:ea typeface="Reading Text SC"/>
              </a:rPr>
              <a:t>说明信息从哪里进入系统</a:t>
            </a:r>
          </a:p>
        </p:txBody>
      </p:sp>
      <p:pic>
        <p:nvPicPr>
          <p:cNvPr id="26" name="Picture 25" descr="product-cut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4300" y="2686050"/>
            <a:ext cx="2743200" cy="20574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71500" y="5880100"/>
            <a:ext cx="10960100" cy="355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60" b="0">
                <a:solidFill>
                  <a:srgbClr val="52655E"/>
                </a:solidFill>
                <a:latin typeface="Reading Text SC"/>
                <a:ea typeface="Reading Text SC"/>
              </a:rPr>
              <a:t>概念架构：信息组织与交互关系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6248400"/>
            <a:ext cx="1003300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20" b="0">
                <a:solidFill>
                  <a:srgbClr val="52655E"/>
                </a:solidFill>
                <a:latin typeface="Reading Text SC"/>
                <a:ea typeface="Reading Text SC"/>
              </a:rPr>
              <a:t>06 / 大主体与局部引线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48400"/>
            <a:ext cx="114300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20" b="0">
                <a:solidFill>
                  <a:srgbClr val="52655E"/>
                </a:solidFill>
                <a:latin typeface="Reading Text SC"/>
                <a:ea typeface="Reading Text SC"/>
              </a:rPr>
              <a:t>概念演示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444500"/>
            <a:ext cx="10998200" cy="86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0">
                <a:solidFill>
                  <a:srgbClr val="164B3B"/>
                </a:solidFill>
                <a:latin typeface="ZCOOL XiaoWei"/>
                <a:ea typeface="ZCOOL XiaoWei"/>
              </a:rPr>
              <a:t>把主体放大，让细节说话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95600" y="2578100"/>
            <a:ext cx="3327400" cy="698500"/>
          </a:xfrm>
          <a:prstGeom prst="line">
            <a:avLst/>
          </a:prstGeom>
          <a:ln w="16510">
            <a:solidFill>
              <a:srgbClr val="86A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8216900" y="2921000"/>
            <a:ext cx="1054100" cy="1079500"/>
          </a:xfrm>
          <a:prstGeom prst="line">
            <a:avLst/>
          </a:prstGeom>
          <a:ln w="16510">
            <a:solidFill>
              <a:srgbClr val="86A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918200" y="5041900"/>
            <a:ext cx="12700" cy="571500"/>
          </a:xfrm>
          <a:prstGeom prst="line">
            <a:avLst/>
          </a:prstGeom>
          <a:ln w="16510">
            <a:solidFill>
              <a:srgbClr val="86A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product-cut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600" y="1266825"/>
            <a:ext cx="5968999" cy="44767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1816100"/>
            <a:ext cx="1130300" cy="635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800" b="0">
                <a:solidFill>
                  <a:srgbClr val="7DA785"/>
                </a:solidFill>
                <a:latin typeface="Barlow Condensed"/>
                <a:ea typeface="Barlow Condense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2489200"/>
            <a:ext cx="25908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164B3B"/>
                </a:solidFill>
                <a:latin typeface="Reading Text SC"/>
                <a:ea typeface="Reading Text SC"/>
              </a:rPr>
              <a:t>状态入口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3060700"/>
            <a:ext cx="2641600" cy="838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52655E"/>
                </a:solidFill>
                <a:latin typeface="Reading Text SC"/>
                <a:ea typeface="Reading Text SC"/>
              </a:rPr>
              <a:t>白色传感器概念造型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52655E"/>
                </a:solidFill>
                <a:latin typeface="Reading Text SC"/>
                <a:ea typeface="Reading Text SC"/>
              </a:rPr>
              <a:t>用于说明采集入口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59900" y="1828800"/>
            <a:ext cx="1524000" cy="635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800" b="0">
                <a:solidFill>
                  <a:srgbClr val="FF816B"/>
                </a:solidFill>
                <a:latin typeface="Barlow Condensed"/>
                <a:ea typeface="Barlow Condense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59900" y="2514600"/>
            <a:ext cx="22987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164B3B"/>
                </a:solidFill>
                <a:latin typeface="Reading Text SC"/>
                <a:ea typeface="Reading Text SC"/>
              </a:rPr>
              <a:t>手机端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59900" y="3098800"/>
            <a:ext cx="2298700" cy="825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52655E"/>
                </a:solidFill>
                <a:latin typeface="Reading Text SC"/>
                <a:ea typeface="Reading Text SC"/>
              </a:rPr>
              <a:t>以占位界面表达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52655E"/>
                </a:solidFill>
                <a:latin typeface="Reading Text SC"/>
                <a:ea typeface="Reading Text SC"/>
              </a:rPr>
              <a:t>提醒与记录功能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51300" y="5676900"/>
            <a:ext cx="4343400" cy="406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0">
                <a:solidFill>
                  <a:srgbClr val="164B3B"/>
                </a:solidFill>
                <a:latin typeface="Reading Text SC"/>
                <a:ea typeface="Reading Text SC"/>
              </a:rPr>
              <a:t>植物与花盆：养护对象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4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6248400"/>
            <a:ext cx="1003300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20" b="0">
                <a:solidFill>
                  <a:srgbClr val="C8DFCF"/>
                </a:solidFill>
                <a:latin typeface="Reading Text SC"/>
                <a:ea typeface="Reading Text SC"/>
              </a:rPr>
              <a:t>07 / 童趣字体与深底留白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48400"/>
            <a:ext cx="114300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20" b="0">
                <a:solidFill>
                  <a:srgbClr val="C8DFCF"/>
                </a:solidFill>
                <a:latin typeface="Reading Text SC"/>
                <a:ea typeface="Reading Text SC"/>
              </a:rPr>
              <a:t>概念演示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61400" y="406400"/>
            <a:ext cx="2997200" cy="2514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0" b="0">
                <a:solidFill>
                  <a:srgbClr val="2D624E"/>
                </a:solidFill>
                <a:latin typeface="Barlow Condensed"/>
                <a:ea typeface="Barlow Condensed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" y="609600"/>
            <a:ext cx="7467600" cy="482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>
                <a:solidFill>
                  <a:srgbClr val="B9D8C2"/>
                </a:solidFill>
                <a:latin typeface="Barlow Condensed"/>
                <a:ea typeface="Barlow Condensed"/>
              </a:rPr>
              <a:t>CARE 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2171700"/>
            <a:ext cx="10528300" cy="10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5300" b="0">
                <a:solidFill>
                  <a:srgbClr val="FFFFFF"/>
                </a:solidFill>
                <a:latin typeface="ZCOOL KuaiLe"/>
                <a:ea typeface="ZCOOL KuaiLe"/>
              </a:rPr>
              <a:t>每一次照料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3289300"/>
            <a:ext cx="10528300" cy="10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5300" b="0">
                <a:solidFill>
                  <a:srgbClr val="FFB39E"/>
                </a:solidFill>
                <a:latin typeface="ZCOOL KuaiLe"/>
                <a:ea typeface="ZCOOL KuaiLe"/>
              </a:rPr>
              <a:t>都值得被记住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38200" y="4711700"/>
            <a:ext cx="3390900" cy="0"/>
          </a:xfrm>
          <a:prstGeom prst="line">
            <a:avLst/>
          </a:prstGeom>
          <a:ln w="16510">
            <a:solidFill>
              <a:srgbClr val="7FAD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38200" y="4965700"/>
            <a:ext cx="10363200" cy="571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D1E4D6"/>
                </a:solidFill>
                <a:latin typeface="Reading Text SC"/>
                <a:ea typeface="Reading Text SC"/>
              </a:rPr>
              <a:t>用短句、留白与字体气质，完成章节转场。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6248400"/>
            <a:ext cx="1003300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20" b="0">
                <a:solidFill>
                  <a:srgbClr val="52655E"/>
                </a:solidFill>
                <a:latin typeface="Reading Text SC"/>
                <a:ea typeface="Reading Text SC"/>
              </a:rPr>
              <a:t>08 / 错位路线与后续设想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48400"/>
            <a:ext cx="114300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20" b="0">
                <a:solidFill>
                  <a:srgbClr val="52655E"/>
                </a:solidFill>
                <a:latin typeface="Reading Text SC"/>
                <a:ea typeface="Reading Text SC"/>
              </a:rPr>
              <a:t>概念演示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6100" y="749300"/>
            <a:ext cx="3289300" cy="1473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0">
                <a:solidFill>
                  <a:srgbClr val="164B3B"/>
                </a:solidFill>
                <a:latin typeface="ZCOOL XiaoWei"/>
                <a:ea typeface="ZCOOL XiaoWei"/>
              </a:rPr>
              <a:t>接下来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0">
                <a:solidFill>
                  <a:srgbClr val="164B3B"/>
                </a:solidFill>
                <a:latin typeface="ZCOOL XiaoWei"/>
                <a:ea typeface="ZCOOL XiaoWei"/>
              </a:rPr>
              <a:t>让体验更完整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590800"/>
            <a:ext cx="3149600" cy="431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52655E"/>
                </a:solidFill>
                <a:latin typeface="Reading Text SC"/>
                <a:ea typeface="Reading Text SC"/>
              </a:rPr>
              <a:t>后续设想</a:t>
            </a:r>
          </a:p>
        </p:txBody>
      </p:sp>
      <p:pic>
        <p:nvPicPr>
          <p:cNvPr id="7" name="Picture 6" descr="product-cut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700" y="3594100"/>
            <a:ext cx="3048000" cy="2286000"/>
          </a:xfrm>
          <a:prstGeom prst="rect">
            <a:avLst/>
          </a:prstGeom>
        </p:spPr>
      </p:pic>
      <p:cxnSp>
        <p:nvCxnSpPr>
          <p:cNvPr id="8" name="Connector 7"/>
          <p:cNvCxnSpPr/>
          <p:nvPr/>
        </p:nvCxnSpPr>
        <p:spPr>
          <a:xfrm>
            <a:off x="4051300" y="1714500"/>
            <a:ext cx="0" cy="4089400"/>
          </a:xfrm>
          <a:prstGeom prst="line">
            <a:avLst/>
          </a:prstGeom>
          <a:ln w="25400">
            <a:solidFill>
              <a:srgbClr val="92B7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962400" y="1879600"/>
            <a:ext cx="177800" cy="177800"/>
          </a:xfrm>
          <a:prstGeom prst="ellipse">
            <a:avLst/>
          </a:prstGeom>
          <a:solidFill>
            <a:srgbClr val="8AB3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4178300" y="1968500"/>
            <a:ext cx="165100" cy="0"/>
          </a:xfrm>
          <a:prstGeom prst="line">
            <a:avLst/>
          </a:prstGeom>
          <a:ln w="12700">
            <a:solidFill>
              <a:srgbClr val="92B7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495800" y="1612900"/>
            <a:ext cx="825500" cy="850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900" b="0">
                <a:solidFill>
                  <a:srgbClr val="729B7C"/>
                </a:solidFill>
                <a:latin typeface="Barlow Condensed"/>
                <a:ea typeface="Barlow Condense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99100" y="1676400"/>
            <a:ext cx="46355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>
                <a:solidFill>
                  <a:srgbClr val="164B3B"/>
                </a:solidFill>
                <a:latin typeface="Reading Text SC"/>
                <a:ea typeface="Reading Text SC"/>
              </a:rPr>
              <a:t>先建立记录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11800" y="2260600"/>
            <a:ext cx="452120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60" b="0">
                <a:solidFill>
                  <a:srgbClr val="52655E"/>
                </a:solidFill>
                <a:latin typeface="Reading Text SC"/>
                <a:ea typeface="Reading Text SC"/>
              </a:rPr>
              <a:t>让信息有清楚的查看入口。</a:t>
            </a:r>
          </a:p>
        </p:txBody>
      </p:sp>
      <p:sp>
        <p:nvSpPr>
          <p:cNvPr id="14" name="Oval 13"/>
          <p:cNvSpPr/>
          <p:nvPr/>
        </p:nvSpPr>
        <p:spPr>
          <a:xfrm>
            <a:off x="3962400" y="3352800"/>
            <a:ext cx="177800" cy="177800"/>
          </a:xfrm>
          <a:prstGeom prst="ellipse">
            <a:avLst/>
          </a:prstGeom>
          <a:solidFill>
            <a:srgbClr val="FF8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" name="Connector 14"/>
          <p:cNvCxnSpPr/>
          <p:nvPr/>
        </p:nvCxnSpPr>
        <p:spPr>
          <a:xfrm>
            <a:off x="4178300" y="3441700"/>
            <a:ext cx="800100" cy="0"/>
          </a:xfrm>
          <a:prstGeom prst="line">
            <a:avLst/>
          </a:prstGeom>
          <a:ln w="12700">
            <a:solidFill>
              <a:srgbClr val="92B7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130800" y="3086100"/>
            <a:ext cx="825500" cy="850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900" b="0">
                <a:solidFill>
                  <a:srgbClr val="FF816B"/>
                </a:solidFill>
                <a:latin typeface="Barlow Condensed"/>
                <a:ea typeface="Barlow Condensed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34100" y="3149600"/>
            <a:ext cx="46355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>
                <a:solidFill>
                  <a:srgbClr val="164B3B"/>
                </a:solidFill>
                <a:latin typeface="Reading Text SC"/>
                <a:ea typeface="Reading Text SC"/>
              </a:rPr>
              <a:t>再优化提醒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46800" y="3733800"/>
            <a:ext cx="452120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60" b="0">
                <a:solidFill>
                  <a:srgbClr val="52655E"/>
                </a:solidFill>
                <a:latin typeface="Reading Text SC"/>
                <a:ea typeface="Reading Text SC"/>
              </a:rPr>
              <a:t>探索更适合使用过程的提示。</a:t>
            </a:r>
          </a:p>
        </p:txBody>
      </p:sp>
      <p:sp>
        <p:nvSpPr>
          <p:cNvPr id="19" name="Oval 18"/>
          <p:cNvSpPr/>
          <p:nvPr/>
        </p:nvSpPr>
        <p:spPr>
          <a:xfrm>
            <a:off x="3962400" y="4826000"/>
            <a:ext cx="177800" cy="177800"/>
          </a:xfrm>
          <a:prstGeom prst="ellipse">
            <a:avLst/>
          </a:prstGeom>
          <a:solidFill>
            <a:srgbClr val="8AB3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0" name="Connector 19"/>
          <p:cNvCxnSpPr/>
          <p:nvPr/>
        </p:nvCxnSpPr>
        <p:spPr>
          <a:xfrm>
            <a:off x="4178300" y="4914900"/>
            <a:ext cx="1435100" cy="0"/>
          </a:xfrm>
          <a:prstGeom prst="line">
            <a:avLst/>
          </a:prstGeom>
          <a:ln w="12700">
            <a:solidFill>
              <a:srgbClr val="92B7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765800" y="4559300"/>
            <a:ext cx="825500" cy="850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900" b="0">
                <a:solidFill>
                  <a:srgbClr val="729B7C"/>
                </a:solidFill>
                <a:latin typeface="Barlow Condensed"/>
                <a:ea typeface="Barlow Condensed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9100" y="4622800"/>
            <a:ext cx="46355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>
                <a:solidFill>
                  <a:srgbClr val="164B3B"/>
                </a:solidFill>
                <a:latin typeface="Reading Text SC"/>
                <a:ea typeface="Reading Text SC"/>
              </a:rPr>
              <a:t>再完善体验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1800" y="5207000"/>
            <a:ext cx="452120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60" b="0">
                <a:solidFill>
                  <a:srgbClr val="52655E"/>
                </a:solidFill>
                <a:latin typeface="Reading Text SC"/>
                <a:ea typeface="Reading Text SC"/>
              </a:rPr>
              <a:t>结合反馈继续调整交互细节。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Reading Text SC"/>
        <a:ea typeface="Reading Text SC"/>
        <a:cs typeface="Reading Text SC"/>
        <a:font script="Jpan" typeface="Reading Text SC"/>
        <a:font script="Hang" typeface="Reading Text SC"/>
        <a:font script="Hans" typeface="Reading Text SC"/>
        <a:font script="Hant" typeface="Reading Text SC"/>
        <a:font script="Arab" typeface="Reading Text SC"/>
        <a:font script="Hebr" typeface="Reading Text SC"/>
        <a:font script="Thai" typeface="Reading Text SC"/>
        <a:font script="Ethi" typeface="Reading Text SC"/>
        <a:font script="Beng" typeface="Reading Text SC"/>
        <a:font script="Gujr" typeface="Reading Text SC"/>
        <a:font script="Khmr" typeface="Reading Text SC"/>
        <a:font script="Knda" typeface="Reading Text SC"/>
        <a:font script="Guru" typeface="Reading Text SC"/>
        <a:font script="Cans" typeface="Reading Text SC"/>
        <a:font script="Cher" typeface="Reading Text SC"/>
        <a:font script="Yiii" typeface="Reading Text SC"/>
        <a:font script="Tibt" typeface="Reading Text SC"/>
        <a:font script="Thaa" typeface="Reading Text SC"/>
        <a:font script="Deva" typeface="Reading Text SC"/>
        <a:font script="Telu" typeface="Reading Text SC"/>
        <a:font script="Taml" typeface="Reading Text SC"/>
        <a:font script="Syrc" typeface="Reading Text SC"/>
        <a:font script="Orya" typeface="Reading Text SC"/>
        <a:font script="Mlym" typeface="Reading Text SC"/>
        <a:font script="Laoo" typeface="Reading Text SC"/>
        <a:font script="Sinh" typeface="Reading Text SC"/>
        <a:font script="Mong" typeface="Reading Text SC"/>
        <a:font script="Viet" typeface="Reading Text SC"/>
        <a:font script="Uigh" typeface="Reading Text SC"/>
        <a:font script="Geor" typeface="Reading Text SC"/>
      </a:majorFont>
      <a:minorFont>
        <a:latin typeface="Reading Text SC"/>
        <a:ea typeface="Reading Text SC"/>
        <a:cs typeface="Reading Text SC"/>
        <a:font script="Jpan" typeface="Reading Text SC"/>
        <a:font script="Hang" typeface="Reading Text SC"/>
        <a:font script="Hans" typeface="Reading Text SC"/>
        <a:font script="Hant" typeface="Reading Text SC"/>
        <a:font script="Arab" typeface="Reading Text SC"/>
        <a:font script="Hebr" typeface="Reading Text SC"/>
        <a:font script="Thai" typeface="Reading Text SC"/>
        <a:font script="Ethi" typeface="Reading Text SC"/>
        <a:font script="Beng" typeface="Reading Text SC"/>
        <a:font script="Gujr" typeface="Reading Text SC"/>
        <a:font script="Khmr" typeface="Reading Text SC"/>
        <a:font script="Knda" typeface="Reading Text SC"/>
        <a:font script="Guru" typeface="Reading Text SC"/>
        <a:font script="Cans" typeface="Reading Text SC"/>
        <a:font script="Cher" typeface="Reading Text SC"/>
        <a:font script="Yiii" typeface="Reading Text SC"/>
        <a:font script="Tibt" typeface="Reading Text SC"/>
        <a:font script="Thaa" typeface="Reading Text SC"/>
        <a:font script="Deva" typeface="Reading Text SC"/>
        <a:font script="Telu" typeface="Reading Text SC"/>
        <a:font script="Taml" typeface="Reading Text SC"/>
        <a:font script="Syrc" typeface="Reading Text SC"/>
        <a:font script="Orya" typeface="Reading Text SC"/>
        <a:font script="Mlym" typeface="Reading Text SC"/>
        <a:font script="Laoo" typeface="Reading Text SC"/>
        <a:font script="Sinh" typeface="Reading Text SC"/>
        <a:font script="Mong" typeface="Reading Text SC"/>
        <a:font script="Viet" typeface="Reading Text SC"/>
        <a:font script="Uigh" typeface="Reading Text SC"/>
        <a:font script="Geor" typeface="Reading Text SC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179</Words>
  <Application>Microsoft Office PowerPoint</Application>
  <PresentationFormat>宽屏</PresentationFormat>
  <Paragraphs>107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4" baseType="lpstr">
      <vt:lpstr>Reading Text SC</vt:lpstr>
      <vt:lpstr>ZCOOL XiaoWei</vt:lpstr>
      <vt:lpstr>Barlow Condensed</vt:lpstr>
      <vt:lpstr>ZCOOL KuaiLe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绿芽｜字体与版式选型图册</dc:title>
  <dc:subject/>
  <dc:creator/>
  <cp:keywords/>
  <dc:description>generated using python-pptx</dc:description>
  <cp:lastModifiedBy/>
  <cp:revision>2</cp:revision>
  <dcterms:created xsi:type="dcterms:W3CDTF">2013-01-27T09:14:16Z</dcterms:created>
  <dcterms:modified xsi:type="dcterms:W3CDTF">2026-10-25T05:37:19Z</dcterms:modified>
  <cp:category/>
</cp:coreProperties>
</file>